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17" r:id="rId5"/>
    <p:sldId id="307" r:id="rId6"/>
    <p:sldId id="308" r:id="rId7"/>
    <p:sldId id="309" r:id="rId8"/>
    <p:sldId id="263" r:id="rId9"/>
    <p:sldId id="310" r:id="rId10"/>
    <p:sldId id="311" r:id="rId11"/>
    <p:sldId id="312" r:id="rId12"/>
    <p:sldId id="318" r:id="rId13"/>
    <p:sldId id="321" r:id="rId14"/>
    <p:sldId id="322" r:id="rId15"/>
    <p:sldId id="323" r:id="rId16"/>
    <p:sldId id="316" r:id="rId17"/>
    <p:sldId id="30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05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822" y="3844506"/>
            <a:ext cx="8072801" cy="2242868"/>
          </a:xfrm>
        </p:spPr>
        <p:txBody>
          <a:bodyPr anchor="ctr"/>
          <a:lstStyle/>
          <a:p>
            <a:pPr algn="l"/>
            <a:r>
              <a:rPr lang="ro-RO" sz="3600" dirty="0"/>
              <a:t>Hârnagea Andrei-Alexandru</a:t>
            </a:r>
            <a:br>
              <a:rPr lang="ro-RO" sz="3600" dirty="0"/>
            </a:br>
            <a:r>
              <a:rPr lang="ro-RO" sz="3600" dirty="0"/>
              <a:t>Master ABD, AC</a:t>
            </a:r>
            <a:endParaRPr lang="en-US" sz="3600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F9651A6-E60F-8A8A-9B79-2B9858222055}"/>
              </a:ext>
            </a:extLst>
          </p:cNvPr>
          <p:cNvSpPr txBox="1">
            <a:spLocks/>
          </p:cNvSpPr>
          <p:nvPr/>
        </p:nvSpPr>
        <p:spPr>
          <a:xfrm>
            <a:off x="0" y="1109932"/>
            <a:ext cx="5742907" cy="22428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6600" dirty="0"/>
              <a:t>Folc pe Loc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625026"/>
              </p:ext>
            </p:extLst>
          </p:nvPr>
        </p:nvGraphicFramePr>
        <p:xfrm>
          <a:off x="6869113" y="1143001"/>
          <a:ext cx="4103687" cy="4593566"/>
        </p:xfrm>
        <a:graphic>
          <a:graphicData uri="http://schemas.openxmlformats.org/drawingml/2006/table">
            <a:tbl>
              <a:tblPr firstRow="1" bandRow="1"/>
              <a:tblGrid>
                <a:gridCol w="4103687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603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400" b="0" dirty="0">
                          <a:latin typeface="+mn-lt"/>
                          <a:cs typeface="Gill Sans Light" panose="020B0302020104020203" pitchFamily="34" charset="-79"/>
                        </a:rPr>
                        <a:t>INTRODUCERE</a:t>
                      </a: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83055">
                <a:tc>
                  <a:txBody>
                    <a:bodyPr/>
                    <a:lstStyle/>
                    <a:p>
                      <a:pPr algn="r"/>
                      <a:r>
                        <a:rPr lang="ro-RO" sz="2400" b="0" dirty="0"/>
                        <a:t>TEHNOLOGII FOLOSITE</a:t>
                      </a:r>
                      <a:endParaRPr lang="en-US" sz="2400" b="0" dirty="0"/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1003116">
                <a:tc>
                  <a:txBody>
                    <a:bodyPr/>
                    <a:lstStyle/>
                    <a:p>
                      <a:pPr algn="r"/>
                      <a:r>
                        <a:rPr lang="ro-RO" sz="2400" b="0" dirty="0"/>
                        <a:t>BAZA DE DATE</a:t>
                      </a:r>
                      <a:endParaRPr lang="en-US" sz="2400" b="0" dirty="0"/>
                    </a:p>
                    <a:p>
                      <a:pPr marL="0" algn="r" defTabSz="914400" rtl="0" eaLnBrk="1" latinLnBrk="0" hangingPunct="1"/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6299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400" b="0" dirty="0"/>
                        <a:t>UTILIZATORI</a:t>
                      </a: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836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400" b="0" dirty="0"/>
                        <a:t>COSTURI</a:t>
                      </a: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442" y="439947"/>
            <a:ext cx="4425351" cy="1086928"/>
          </a:xfrm>
        </p:spPr>
        <p:txBody>
          <a:bodyPr/>
          <a:lstStyle/>
          <a:p>
            <a:r>
              <a:rPr lang="ro-RO" dirty="0"/>
              <a:t>Introducere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6E7EF9-4528-8B30-2872-9C0798D779C8}"/>
              </a:ext>
            </a:extLst>
          </p:cNvPr>
          <p:cNvSpPr txBox="1">
            <a:spLocks/>
          </p:cNvSpPr>
          <p:nvPr/>
        </p:nvSpPr>
        <p:spPr>
          <a:xfrm>
            <a:off x="94891" y="112144"/>
            <a:ext cx="11766430" cy="6133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u="sng" dirty="0" err="1"/>
              <a:t>Aplicație</a:t>
            </a:r>
            <a:r>
              <a:rPr lang="en-US" altLang="en-US" sz="2800" u="sng" dirty="0"/>
              <a:t> web </a:t>
            </a:r>
            <a:r>
              <a:rPr lang="en-US" altLang="en-US" sz="2800" u="sng" dirty="0" err="1"/>
              <a:t>pentru</a:t>
            </a:r>
            <a:r>
              <a:rPr lang="en-US" altLang="en-US" sz="2800" u="sng" dirty="0"/>
              <a:t> </a:t>
            </a:r>
            <a:r>
              <a:rPr lang="en-US" altLang="en-US" sz="2800" u="sng" dirty="0" err="1"/>
              <a:t>rezervări</a:t>
            </a:r>
            <a:r>
              <a:rPr lang="en-US" altLang="en-US" sz="2800" u="sng" dirty="0"/>
              <a:t> </a:t>
            </a:r>
            <a:r>
              <a:rPr lang="en-US" altLang="en-US" sz="2800" u="sng" dirty="0" err="1"/>
              <a:t>dansuri</a:t>
            </a:r>
            <a:r>
              <a:rPr lang="en-US" altLang="en-US" sz="2800" u="sng" dirty="0"/>
              <a:t> </a:t>
            </a:r>
            <a:r>
              <a:rPr lang="en-US" altLang="en-US" sz="2800" u="sng" dirty="0" err="1"/>
              <a:t>populare</a:t>
            </a:r>
            <a:endParaRPr lang="ro-RO" altLang="en-US" sz="2800" u="sng" dirty="0"/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u="sng" dirty="0"/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/>
              <a:t>Problem</a:t>
            </a:r>
            <a:r>
              <a:rPr lang="ro-RO" altLang="en-US" sz="2800" b="1" dirty="0"/>
              <a:t>ă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ansamblurile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primesc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comenzi</a:t>
            </a:r>
            <a:r>
              <a:rPr lang="en-US" altLang="en-US" sz="2800" dirty="0"/>
              <a:t> </a:t>
            </a:r>
            <a:r>
              <a:rPr lang="ro-RO" altLang="en-US" sz="2800" dirty="0"/>
              <a:t>și pot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pierd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cereri</a:t>
            </a:r>
            <a:r>
              <a:rPr lang="en-US" altLang="en-US" sz="2800" dirty="0"/>
              <a:t>, nu au </a:t>
            </a:r>
            <a:r>
              <a:rPr lang="en-US" altLang="en-US" sz="2800" dirty="0" err="1"/>
              <a:t>evidență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clară</a:t>
            </a:r>
            <a:r>
              <a:rPr lang="en-US" altLang="en-US" sz="2800" dirty="0"/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 err="1"/>
              <a:t>Soluția</a:t>
            </a:r>
            <a:r>
              <a:rPr lang="en-US" altLang="en-US" sz="2800" dirty="0"/>
              <a:t>: platform</a:t>
            </a:r>
            <a:r>
              <a:rPr lang="ro-RO" altLang="en-US" sz="2800" dirty="0"/>
              <a:t>a</a:t>
            </a:r>
            <a:r>
              <a:rPr lang="en-US" altLang="en-US" sz="2800" dirty="0"/>
              <a:t> online </a:t>
            </a:r>
            <a:r>
              <a:rPr lang="en-US" altLang="en-US" sz="2800" dirty="0" err="1"/>
              <a:t>unde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clienții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văd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catalogul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și</a:t>
            </a:r>
            <a:r>
              <a:rPr lang="en-US" altLang="en-US" sz="2800" dirty="0"/>
              <a:t> fac </a:t>
            </a:r>
            <a:r>
              <a:rPr lang="en-US" altLang="en-US" sz="2800" dirty="0" err="1"/>
              <a:t>rezervări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coregrafii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gestionează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totul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dintr</a:t>
            </a:r>
            <a:r>
              <a:rPr lang="en-US" altLang="en-US" sz="2800" dirty="0"/>
              <a:t>-un loc 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2E9028B-F79A-8DFC-0729-903F58229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442" y="439947"/>
            <a:ext cx="6245524" cy="1043796"/>
          </a:xfrm>
        </p:spPr>
        <p:txBody>
          <a:bodyPr/>
          <a:lstStyle/>
          <a:p>
            <a:r>
              <a:rPr lang="ro-RO" sz="4800" dirty="0"/>
              <a:t>Tehnologii Folosite</a:t>
            </a:r>
            <a:endParaRPr lang="en-US" sz="480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D9AB4A0-FA63-06E2-5694-3B44A30B7E90}"/>
              </a:ext>
            </a:extLst>
          </p:cNvPr>
          <p:cNvSpPr txBox="1">
            <a:spLocks/>
          </p:cNvSpPr>
          <p:nvPr/>
        </p:nvSpPr>
        <p:spPr>
          <a:xfrm>
            <a:off x="405442" y="2078966"/>
            <a:ext cx="10670875" cy="26138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/>
              <a:t>Flask (Python) - framework potrivit pentru dimensiunea proiectului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o-R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/>
              <a:t>MySQL - bază de date relațională solidă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o-R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/>
              <a:t>TailwinCSS - styling rapid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o-R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/>
              <a:t>Jinja2 - template-uri HTML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9BFC-2E82-C558-E62E-381490C6802E}"/>
              </a:ext>
            </a:extLst>
          </p:cNvPr>
          <p:cNvSpPr txBox="1">
            <a:spLocks/>
          </p:cNvSpPr>
          <p:nvPr/>
        </p:nvSpPr>
        <p:spPr>
          <a:xfrm>
            <a:off x="70302" y="160019"/>
            <a:ext cx="4319246" cy="8817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dirty="0"/>
              <a:t>Baza de Date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CE72ADF-B1AD-6B46-FDF4-1E42E9E20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925" y="1335456"/>
            <a:ext cx="8078641" cy="5267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EDB2E12-4B22-5D1C-62B5-9537B82CBA06}"/>
              </a:ext>
            </a:extLst>
          </p:cNvPr>
          <p:cNvSpPr txBox="1">
            <a:spLocks/>
          </p:cNvSpPr>
          <p:nvPr/>
        </p:nvSpPr>
        <p:spPr>
          <a:xfrm>
            <a:off x="363600" y="481211"/>
            <a:ext cx="4319246" cy="8817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dirty="0"/>
              <a:t>Coregraful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E6589BB-1CA1-1F8D-2EDD-99609EA354BB}"/>
              </a:ext>
            </a:extLst>
          </p:cNvPr>
          <p:cNvSpPr txBox="1">
            <a:spLocks/>
          </p:cNvSpPr>
          <p:nvPr/>
        </p:nvSpPr>
        <p:spPr>
          <a:xfrm>
            <a:off x="783419" y="1906437"/>
            <a:ext cx="10465426" cy="378699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CRUD pe dansurile din catalog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Vede toate cererile de rezervare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Acceptă sau refuza cereri (cu motiv)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Marcheaza evenimente ca finalizate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Vede statistici si recenzii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9CBABC58-0CB9-4648-1408-F1AE343788C1}"/>
              </a:ext>
            </a:extLst>
          </p:cNvPr>
          <p:cNvSpPr txBox="1">
            <a:spLocks/>
          </p:cNvSpPr>
          <p:nvPr/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400" b="0" i="0" kern="1200">
                <a:solidFill>
                  <a:schemeClr val="tx1"/>
                </a:solidFill>
                <a:latin typeface="Sagona Book" panose="02020503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833F61E-A689-D9C0-1DD3-C713FDF9C547}"/>
              </a:ext>
            </a:extLst>
          </p:cNvPr>
          <p:cNvSpPr txBox="1">
            <a:spLocks/>
          </p:cNvSpPr>
          <p:nvPr/>
        </p:nvSpPr>
        <p:spPr>
          <a:xfrm>
            <a:off x="-222996" y="507090"/>
            <a:ext cx="4319246" cy="8817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dirty="0"/>
              <a:t>Clientul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56D509-742D-E0B2-0F4E-81ABD237519A}"/>
              </a:ext>
            </a:extLst>
          </p:cNvPr>
          <p:cNvSpPr txBox="1">
            <a:spLocks/>
          </p:cNvSpPr>
          <p:nvPr/>
        </p:nvSpPr>
        <p:spPr>
          <a:xfrm>
            <a:off x="725910" y="1742536"/>
            <a:ext cx="10465426" cy="38560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Se înregistrează și se loghează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Răsfoiește catalogul de dansuri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Face rezervare pentru un eveniment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Vede statusul rezervărilor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Lasă recenzie după eveniment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E5964DB-0AAD-9F2C-EF01-0EEC09D91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514D97C6-9F89-1064-93E7-5BABE6DA8E34}"/>
              </a:ext>
            </a:extLst>
          </p:cNvPr>
          <p:cNvSpPr txBox="1">
            <a:spLocks/>
          </p:cNvSpPr>
          <p:nvPr/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2400" b="0" i="0" kern="1200">
                <a:solidFill>
                  <a:schemeClr val="tx1"/>
                </a:solidFill>
                <a:latin typeface="Sagona Book" panose="02020503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0EC71AB-31C8-1AE7-2594-9633468C9C23}"/>
              </a:ext>
            </a:extLst>
          </p:cNvPr>
          <p:cNvSpPr txBox="1">
            <a:spLocks/>
          </p:cNvSpPr>
          <p:nvPr/>
        </p:nvSpPr>
        <p:spPr>
          <a:xfrm>
            <a:off x="-222996" y="507090"/>
            <a:ext cx="4319246" cy="8817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dirty="0"/>
              <a:t>Costuri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7673E02-2C9A-0BBE-1C32-7E167FFE478F}"/>
              </a:ext>
            </a:extLst>
          </p:cNvPr>
          <p:cNvSpPr txBox="1">
            <a:spLocks/>
          </p:cNvSpPr>
          <p:nvPr/>
        </p:nvSpPr>
        <p:spPr>
          <a:xfrm>
            <a:off x="415359" y="1647646"/>
            <a:ext cx="10465426" cy="385600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Dezvoltare: ~3.100 USD (112 ore)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Infrastructură: ~300 RON/an (server + domeniu, SSL gratuit)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Mentenanță: ~2.300 USD/an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Surse: Upwork, Hetzner, RoTLD, Let's Encrypt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BAA5E-4169-7ED9-AFF8-8115C43C3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3BD145-89AA-45E8-556B-07E8EE2C6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48" y="927852"/>
            <a:ext cx="7889767" cy="385118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D9068AD-C2DB-735B-C87A-EAB193913A8E}"/>
              </a:ext>
            </a:extLst>
          </p:cNvPr>
          <p:cNvSpPr txBox="1">
            <a:spLocks/>
          </p:cNvSpPr>
          <p:nvPr/>
        </p:nvSpPr>
        <p:spPr>
          <a:xfrm>
            <a:off x="3963309" y="5127890"/>
            <a:ext cx="4027244" cy="80225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3200" dirty="0"/>
              <a:t>Pagina Principală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26091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BAA5E-4169-7ED9-AFF8-8115C43C3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D9068AD-C2DB-735B-C87A-EAB193913A8E}"/>
              </a:ext>
            </a:extLst>
          </p:cNvPr>
          <p:cNvSpPr txBox="1">
            <a:spLocks/>
          </p:cNvSpPr>
          <p:nvPr/>
        </p:nvSpPr>
        <p:spPr>
          <a:xfrm>
            <a:off x="3886917" y="5127890"/>
            <a:ext cx="4180027" cy="80225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3200" dirty="0"/>
              <a:t>Dashboard Coregraf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296584-7BE2-39DE-6D39-C6EFDAE16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72" y="567459"/>
            <a:ext cx="8637917" cy="436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80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BAA5E-4169-7ED9-AFF8-8115C43C3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D9068AD-C2DB-735B-C87A-EAB193913A8E}"/>
              </a:ext>
            </a:extLst>
          </p:cNvPr>
          <p:cNvSpPr txBox="1">
            <a:spLocks/>
          </p:cNvSpPr>
          <p:nvPr/>
        </p:nvSpPr>
        <p:spPr>
          <a:xfrm>
            <a:off x="3886917" y="5127890"/>
            <a:ext cx="4180027" cy="80225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3200" dirty="0"/>
              <a:t>Pagina Recenzii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5A1809-017E-4E09-8A1E-9782EC078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160" y="345154"/>
            <a:ext cx="8759539" cy="466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1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BAA5E-4169-7ED9-AFF8-8115C43C3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D9068AD-C2DB-735B-C87A-EAB193913A8E}"/>
              </a:ext>
            </a:extLst>
          </p:cNvPr>
          <p:cNvSpPr txBox="1">
            <a:spLocks/>
          </p:cNvSpPr>
          <p:nvPr/>
        </p:nvSpPr>
        <p:spPr>
          <a:xfrm>
            <a:off x="3886917" y="5127890"/>
            <a:ext cx="4541091" cy="80225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3200" dirty="0"/>
              <a:t>Rezervare Eveniment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94ADE1-87BC-D34D-45D2-E2608EC68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631" y="400615"/>
            <a:ext cx="8204597" cy="483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86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59" y="163901"/>
            <a:ext cx="10360152" cy="914400"/>
          </a:xfrm>
        </p:spPr>
        <p:txBody>
          <a:bodyPr/>
          <a:lstStyle/>
          <a:p>
            <a:r>
              <a:rPr lang="ro-RO" sz="3200" dirty="0"/>
              <a:t>Concluzii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BF3898B-5FFF-5EC0-835F-77E6B9328E28}"/>
              </a:ext>
            </a:extLst>
          </p:cNvPr>
          <p:cNvSpPr txBox="1">
            <a:spLocks/>
          </p:cNvSpPr>
          <p:nvPr/>
        </p:nvSpPr>
        <p:spPr>
          <a:xfrm>
            <a:off x="415359" y="1362975"/>
            <a:ext cx="10465426" cy="436496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Aplicatia functionează: clientii fac rezervari, coregraful gestioneaza cereri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Toate cerintele propuse au fost implementate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Se poate extinde: notificări email, plați online, calendar disponibilitate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3200" dirty="0"/>
              <a:t>Experienta utila - am lucrat cu tehnologii noi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/>
              <a:t>mulțumesc! :)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{9ED30E61-863D-4112-BD59-AE349717A337}TF1ed9553b-00c4-4092-846a-c8f7f2908f3beecd942f_win32-8e33096c3cfc</Template>
  <TotalTime>45</TotalTime>
  <Words>250</Words>
  <Application>Microsoft Office PowerPoint</Application>
  <PresentationFormat>Widescreen</PresentationFormat>
  <Paragraphs>71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Gill Sans Nova Light</vt:lpstr>
      <vt:lpstr>Sagona Book</vt:lpstr>
      <vt:lpstr>Custom</vt:lpstr>
      <vt:lpstr>Hârnagea Andrei-Alexandru Master ABD, AC</vt:lpstr>
      <vt:lpstr>agenda</vt:lpstr>
      <vt:lpstr>Introducere</vt:lpstr>
      <vt:lpstr>Tehnologii Folosite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Concluzii</vt:lpstr>
      <vt:lpstr>mulțumesc! :)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Harnagea</dc:creator>
  <cp:lastModifiedBy>Andrei Harnagea</cp:lastModifiedBy>
  <cp:revision>3</cp:revision>
  <dcterms:created xsi:type="dcterms:W3CDTF">2026-01-14T23:38:36Z</dcterms:created>
  <dcterms:modified xsi:type="dcterms:W3CDTF">2026-01-15T00:23:42Z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